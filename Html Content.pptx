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0" r:id="rId1"/>
  </p:sldMasterIdLst>
  <p:notesMasterIdLst>
    <p:notesMasterId r:id="rId51"/>
  </p:notesMasterIdLst>
  <p:sldIdLst>
    <p:sldId id="256" r:id="rId2"/>
    <p:sldId id="258" r:id="rId3"/>
    <p:sldId id="260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78" r:id="rId24"/>
    <p:sldId id="281" r:id="rId25"/>
    <p:sldId id="282" r:id="rId26"/>
    <p:sldId id="283" r:id="rId27"/>
    <p:sldId id="285" r:id="rId28"/>
    <p:sldId id="304" r:id="rId29"/>
    <p:sldId id="305" r:id="rId30"/>
    <p:sldId id="306" r:id="rId31"/>
    <p:sldId id="284" r:id="rId32"/>
    <p:sldId id="286" r:id="rId33"/>
    <p:sldId id="288" r:id="rId34"/>
    <p:sldId id="289" r:id="rId35"/>
    <p:sldId id="290" r:id="rId36"/>
    <p:sldId id="291" r:id="rId37"/>
    <p:sldId id="287" r:id="rId38"/>
    <p:sldId id="292" r:id="rId39"/>
    <p:sldId id="293" r:id="rId40"/>
    <p:sldId id="294" r:id="rId41"/>
    <p:sldId id="295" r:id="rId42"/>
    <p:sldId id="296" r:id="rId43"/>
    <p:sldId id="297" r:id="rId44"/>
    <p:sldId id="299" r:id="rId45"/>
    <p:sldId id="298" r:id="rId46"/>
    <p:sldId id="300" r:id="rId47"/>
    <p:sldId id="301" r:id="rId48"/>
    <p:sldId id="302" r:id="rId49"/>
    <p:sldId id="303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1"/>
  </p:normalViewPr>
  <p:slideViewPr>
    <p:cSldViewPr>
      <p:cViewPr varScale="1">
        <p:scale>
          <a:sx n="83" d="100"/>
          <a:sy n="8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E90E1-E672-4F45-BC91-084DA0BA5E6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C62A2-23F0-4A64-BD87-6A289A10A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2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BC62A2-23F0-4A64-BD87-6A289A10A5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90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4122BC9-8860-4381-AA1E-D83FD1F9B063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68337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310-20EE-425F-A35D-A2394D863010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78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2BE659-27A9-4D34-81AD-88F03927A5EB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19182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C554-9F9B-4233-977A-72518BE717B1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4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F9120-F1A8-4BFF-8D14-FB1E7C967BBD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124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5F9A-296C-4008-8804-7FBCD9DC18C8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50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E02B-6E64-4790-B995-470D3842346B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06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9CD04-1719-4B01-8A69-C0EB765C1E7B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0618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5FFEB8-837D-423A-9F68-EAD2FACBAF19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8844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B20F-038F-4207-8D16-FF6ABDF395FE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8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5099-7617-4CCD-903F-63B58F358FBB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3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C4FF9120-F1A8-4BFF-8D14-FB1E7C967BBD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D64997D6-E611-4AFC-A176-9BAF8BE0A6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051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hf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tags/tag_frame.asp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tags/tag_frame.asp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tags/tag_option.asp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295400"/>
            <a:ext cx="6107454" cy="2209800"/>
          </a:xfrm>
        </p:spPr>
        <p:txBody>
          <a:bodyPr/>
          <a:lstStyle/>
          <a:p>
            <a:r>
              <a:rPr lang="en-US" sz="4800" dirty="0" smtClean="0"/>
              <a:t>Frontend Development and user interface</a:t>
            </a:r>
            <a:endParaRPr lang="en-US" sz="4800" dirty="0"/>
          </a:p>
        </p:txBody>
      </p:sp>
      <p:sp>
        <p:nvSpPr>
          <p:cNvPr id="4" name="TextBox 3"/>
          <p:cNvSpPr txBox="1"/>
          <p:nvPr/>
        </p:nvSpPr>
        <p:spPr>
          <a:xfrm>
            <a:off x="2209800" y="3962400"/>
            <a:ext cx="495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HTML</a:t>
            </a:r>
            <a:endParaRPr lang="en-US" sz="40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905000" y="3581400"/>
            <a:ext cx="54102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330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652" y="2514600"/>
            <a:ext cx="7672948" cy="3530600"/>
          </a:xfrm>
        </p:spPr>
        <p:txBody>
          <a:bodyPr>
            <a:normAutofit/>
          </a:bodyPr>
          <a:lstStyle/>
          <a:p>
            <a:r>
              <a:rPr lang="en-US" sz="2400" dirty="0"/>
              <a:t>What is HTML?</a:t>
            </a:r>
          </a:p>
          <a:p>
            <a:pPr lvl="1"/>
            <a:r>
              <a:rPr lang="en-US" sz="2000" dirty="0"/>
              <a:t>HTML is a language for describing web pages.</a:t>
            </a:r>
          </a:p>
          <a:p>
            <a:pPr lvl="1"/>
            <a:r>
              <a:rPr lang="en-US" sz="2000" dirty="0"/>
              <a:t>HTML stands for </a:t>
            </a:r>
            <a:r>
              <a:rPr lang="en-US" sz="2000" b="1" dirty="0"/>
              <a:t>H</a:t>
            </a:r>
            <a:r>
              <a:rPr lang="en-US" sz="2000" dirty="0"/>
              <a:t>yper </a:t>
            </a:r>
            <a:r>
              <a:rPr lang="en-US" sz="2000" b="1" dirty="0"/>
              <a:t>T</a:t>
            </a:r>
            <a:r>
              <a:rPr lang="en-US" sz="2000" dirty="0"/>
              <a:t>ext </a:t>
            </a:r>
            <a:r>
              <a:rPr lang="en-US" sz="2000" b="1" dirty="0"/>
              <a:t>M</a:t>
            </a:r>
            <a:r>
              <a:rPr lang="en-US" sz="2000" dirty="0"/>
              <a:t>arkup </a:t>
            </a:r>
            <a:r>
              <a:rPr lang="en-US" sz="2000" b="1" dirty="0"/>
              <a:t>L</a:t>
            </a:r>
            <a:r>
              <a:rPr lang="en-US" sz="2000" dirty="0"/>
              <a:t>anguage</a:t>
            </a:r>
          </a:p>
          <a:p>
            <a:pPr lvl="1"/>
            <a:r>
              <a:rPr lang="en-US" sz="2000" dirty="0"/>
              <a:t>HTML is a </a:t>
            </a:r>
            <a:r>
              <a:rPr lang="en-US" sz="2000" b="1" dirty="0"/>
              <a:t>markup </a:t>
            </a:r>
            <a:r>
              <a:rPr lang="en-US" sz="2000" dirty="0"/>
              <a:t>language</a:t>
            </a:r>
          </a:p>
          <a:p>
            <a:pPr lvl="1"/>
            <a:r>
              <a:rPr lang="en-US" sz="2000" dirty="0"/>
              <a:t>A markup language is a set of markup</a:t>
            </a:r>
            <a:r>
              <a:rPr lang="en-US" sz="2000" b="1" dirty="0"/>
              <a:t> tags</a:t>
            </a:r>
            <a:endParaRPr lang="en-US" sz="2000" dirty="0"/>
          </a:p>
          <a:p>
            <a:pPr lvl="1"/>
            <a:r>
              <a:rPr lang="en-US" sz="2000" dirty="0"/>
              <a:t>The tags </a:t>
            </a:r>
            <a:r>
              <a:rPr lang="en-US" sz="2000" b="1" dirty="0"/>
              <a:t>describe</a:t>
            </a:r>
            <a:r>
              <a:rPr lang="en-US" sz="2000" dirty="0"/>
              <a:t> document content</a:t>
            </a:r>
          </a:p>
          <a:p>
            <a:pPr lvl="1"/>
            <a:r>
              <a:rPr lang="en-US" sz="2000" dirty="0"/>
              <a:t>HTML documents contain</a:t>
            </a:r>
            <a:r>
              <a:rPr lang="en-US" sz="2000" b="1" dirty="0"/>
              <a:t> </a:t>
            </a:r>
            <a:r>
              <a:rPr lang="en-US" sz="2000" dirty="0"/>
              <a:t>HTML</a:t>
            </a:r>
            <a:r>
              <a:rPr lang="en-US" sz="2000" b="1" dirty="0"/>
              <a:t> tags</a:t>
            </a:r>
            <a:r>
              <a:rPr lang="en-US" sz="2000" dirty="0"/>
              <a:t> and plain </a:t>
            </a:r>
            <a:r>
              <a:rPr lang="en-US" sz="2000" b="1" dirty="0"/>
              <a:t>text</a:t>
            </a:r>
            <a:endParaRPr lang="en-US" sz="2000" dirty="0"/>
          </a:p>
          <a:p>
            <a:pPr lvl="1"/>
            <a:r>
              <a:rPr lang="en-US" sz="2000" dirty="0"/>
              <a:t>HTML documents are also called</a:t>
            </a:r>
            <a:r>
              <a:rPr lang="en-US" sz="2000" b="1" dirty="0"/>
              <a:t> web pages</a:t>
            </a:r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0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89200"/>
            <a:ext cx="8382000" cy="3530600"/>
          </a:xfrm>
        </p:spPr>
        <p:txBody>
          <a:bodyPr>
            <a:noAutofit/>
          </a:bodyPr>
          <a:lstStyle/>
          <a:p>
            <a:r>
              <a:rPr lang="en-US" sz="2000" dirty="0"/>
              <a:t>HTML markup tags are usually called HTML tags</a:t>
            </a:r>
          </a:p>
          <a:p>
            <a:r>
              <a:rPr lang="en-US" sz="2000" dirty="0"/>
              <a:t>HTML tags are keywords (tag names) surrounded by </a:t>
            </a:r>
            <a:r>
              <a:rPr lang="en-US" sz="2000" b="1" dirty="0"/>
              <a:t>angle brackets </a:t>
            </a:r>
            <a:r>
              <a:rPr lang="en-US" sz="2000" dirty="0"/>
              <a:t>like &lt;html&gt;</a:t>
            </a:r>
          </a:p>
          <a:p>
            <a:r>
              <a:rPr lang="en-US" sz="2000" dirty="0"/>
              <a:t>HTML tags normally </a:t>
            </a:r>
            <a:r>
              <a:rPr lang="en-US" sz="2000" b="1" dirty="0"/>
              <a:t>come in pairs</a:t>
            </a:r>
            <a:r>
              <a:rPr lang="en-US" sz="2000" dirty="0"/>
              <a:t> like &lt;b&gt; and &lt;/b&gt;</a:t>
            </a:r>
          </a:p>
          <a:p>
            <a:r>
              <a:rPr lang="en-US" sz="2000" dirty="0"/>
              <a:t>The first tag in a pair is the </a:t>
            </a:r>
            <a:r>
              <a:rPr lang="en-US" sz="2000" b="1" dirty="0"/>
              <a:t>start tag,</a:t>
            </a:r>
            <a:r>
              <a:rPr lang="en-US" sz="2000" dirty="0"/>
              <a:t> the second tag is the </a:t>
            </a:r>
            <a:r>
              <a:rPr lang="en-US" sz="2000" b="1" dirty="0"/>
              <a:t>end tag</a:t>
            </a:r>
            <a:endParaRPr lang="en-US" sz="2000" dirty="0"/>
          </a:p>
          <a:p>
            <a:r>
              <a:rPr lang="en-US" sz="2000" dirty="0"/>
              <a:t>The end tag is written like the start tag, with a </a:t>
            </a:r>
            <a:r>
              <a:rPr lang="en-US" sz="2000" b="1" dirty="0"/>
              <a:t>forward slash</a:t>
            </a:r>
            <a:r>
              <a:rPr lang="en-US" sz="2000" dirty="0"/>
              <a:t> before the tag name</a:t>
            </a:r>
          </a:p>
          <a:p>
            <a:r>
              <a:rPr lang="en-US" sz="2000" dirty="0"/>
              <a:t>Start and end tags are also called </a:t>
            </a:r>
            <a:r>
              <a:rPr lang="en-US" sz="2000" b="1" dirty="0"/>
              <a:t>opening tags</a:t>
            </a:r>
            <a:r>
              <a:rPr lang="en-US" sz="2000" dirty="0"/>
              <a:t> and </a:t>
            </a:r>
            <a:r>
              <a:rPr lang="en-US" sz="2000" b="1" dirty="0"/>
              <a:t>closing tags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  &lt;</a:t>
            </a:r>
            <a:r>
              <a:rPr lang="en-US" sz="2000" dirty="0" err="1"/>
              <a:t>tagname</a:t>
            </a:r>
            <a:r>
              <a:rPr lang="en-US" sz="2000" dirty="0"/>
              <a:t>&gt;content&lt;/</a:t>
            </a:r>
            <a:r>
              <a:rPr lang="en-US" sz="2000" dirty="0" err="1"/>
              <a:t>tagname</a:t>
            </a:r>
            <a:r>
              <a:rPr lang="en-US" sz="2000" dirty="0"/>
              <a:t>&gt;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6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Headings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70" y="2475165"/>
            <a:ext cx="8229600" cy="2630236"/>
          </a:xfrm>
        </p:spPr>
        <p:txBody>
          <a:bodyPr>
            <a:normAutofit/>
          </a:bodyPr>
          <a:lstStyle/>
          <a:p>
            <a:r>
              <a:rPr lang="en-US" dirty="0"/>
              <a:t>&lt;h1&gt;This is heading 1 - 24 points&lt;/h1&gt;</a:t>
            </a:r>
          </a:p>
          <a:p>
            <a:r>
              <a:rPr lang="en-US" dirty="0"/>
              <a:t>&lt;h2&gt;This is heading 2-  18 points &lt;/h2&gt;</a:t>
            </a:r>
          </a:p>
          <a:p>
            <a:r>
              <a:rPr lang="en-US" dirty="0"/>
              <a:t>&lt;h3&gt;This is heading 3-  14 points &lt;/h3&gt;</a:t>
            </a:r>
          </a:p>
          <a:p>
            <a:r>
              <a:rPr lang="en-US" dirty="0"/>
              <a:t>&lt;h4&gt;This is heading 4-  12 points &lt;/h4&gt;</a:t>
            </a:r>
          </a:p>
          <a:p>
            <a:r>
              <a:rPr lang="en-US" dirty="0"/>
              <a:t>&lt;h5&gt;This is heading 5-  10 points &lt;/h5&gt;</a:t>
            </a:r>
          </a:p>
          <a:p>
            <a:r>
              <a:rPr lang="en-US" dirty="0"/>
              <a:t>&lt;h6&gt;This is heading 6-  08 points&lt;/h6&gt;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1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&lt;p&gt; and &lt;pre&gt; tag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7656137"/>
              </p:ext>
            </p:extLst>
          </p:nvPr>
        </p:nvGraphicFramePr>
        <p:xfrm>
          <a:off x="1066800" y="2667000"/>
          <a:ext cx="7543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146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&lt;pre&gt;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preformatted text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</a:t>
                      </a:r>
                      <a:r>
                        <a:rPr lang="en-US" baseline="0" dirty="0"/>
                        <a:t> paragraph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739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&lt;p&gt;This is some text in a paragraph.&lt;/p&gt;</a:t>
            </a:r>
          </a:p>
          <a:p>
            <a:endParaRPr lang="en-US" dirty="0"/>
          </a:p>
          <a:p>
            <a:r>
              <a:rPr lang="en-US" dirty="0"/>
              <a:t>Align= left, right, center, justify</a:t>
            </a:r>
          </a:p>
        </p:txBody>
      </p:sp>
    </p:spTree>
    <p:extLst>
      <p:ext uri="{BB962C8B-B14F-4D97-AF65-F5344CB8AC3E}">
        <p14:creationId xmlns:p14="http://schemas.microsoft.com/office/powerpoint/2010/main" val="3990608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Text Formatting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42983"/>
              </p:ext>
            </p:extLst>
          </p:nvPr>
        </p:nvGraphicFramePr>
        <p:xfrm>
          <a:off x="1219200" y="2514600"/>
          <a:ext cx="6346825" cy="3745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0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448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Tag</a:t>
                      </a: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&lt;b&gt;</a:t>
                      </a:r>
                      <a:r>
                        <a:rPr lang="en-US" baseline="0" dirty="0">
                          <a:latin typeface="+mn-lt"/>
                        </a:rPr>
                        <a:t> and &lt;strong&gt;</a:t>
                      </a:r>
                      <a:endParaRPr lang="en-US" dirty="0">
                        <a:latin typeface="+mn-lt"/>
                      </a:endParaRP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To Bold Text</a:t>
                      </a:r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</a:t>
                      </a:r>
                      <a:r>
                        <a:rPr lang="en-US" dirty="0" err="1">
                          <a:latin typeface="+mn-lt"/>
                        </a:rPr>
                        <a:t>i</a:t>
                      </a:r>
                      <a:r>
                        <a:rPr lang="en-US" dirty="0">
                          <a:latin typeface="+mn-lt"/>
                        </a:rPr>
                        <a:t>&gt; and &lt;</a:t>
                      </a:r>
                      <a:r>
                        <a:rPr lang="en-US" dirty="0" err="1">
                          <a:latin typeface="+mn-lt"/>
                        </a:rPr>
                        <a:t>em</a:t>
                      </a:r>
                      <a:r>
                        <a:rPr lang="en-US" dirty="0">
                          <a:latin typeface="+mn-lt"/>
                        </a:rPr>
                        <a:t>&gt;</a:t>
                      </a: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To italic Text</a:t>
                      </a:r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&lt;sup&gt;</a:t>
                      </a: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subscripted text</a:t>
                      </a:r>
                      <a:endParaRPr lang="en-US" dirty="0">
                        <a:latin typeface="+mn-lt"/>
                      </a:endParaRPr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&lt;sup&gt;</a:t>
                      </a: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superscripted text</a:t>
                      </a:r>
                      <a:endParaRPr lang="en-US" dirty="0">
                        <a:latin typeface="+mn-lt"/>
                      </a:endParaRPr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&lt;small&gt;</a:t>
                      </a: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smaller text</a:t>
                      </a:r>
                      <a:endParaRPr lang="en-US" dirty="0">
                        <a:latin typeface="+mn-lt"/>
                      </a:endParaRPr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&lt;big&gt;</a:t>
                      </a: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bigger text</a:t>
                      </a:r>
                      <a:endParaRPr lang="en-US" dirty="0">
                        <a:latin typeface="+mn-lt"/>
                      </a:endParaRPr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&lt;ins&gt;</a:t>
                      </a:r>
                    </a:p>
                  </a:txBody>
                  <a:tcPr marL="36729" marR="36729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n-lt"/>
                        </a:rPr>
                        <a:t>Defines inserted text</a:t>
                      </a:r>
                    </a:p>
                  </a:txBody>
                  <a:tcPr marL="36729" marR="36729" marT="66675" marB="66675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&lt;del&gt;</a:t>
                      </a:r>
                    </a:p>
                  </a:txBody>
                  <a:tcPr marL="36729" marR="36729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n-lt"/>
                        </a:rPr>
                        <a:t>Defines deleted text</a:t>
                      </a:r>
                    </a:p>
                  </a:txBody>
                  <a:tcPr marL="36729" marR="36729" marT="66675" marB="66675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&lt;mark&gt;</a:t>
                      </a:r>
                    </a:p>
                  </a:txBody>
                  <a:tcPr marL="36729" marR="36729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marked/highlighted text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 marL="36729" marR="36729" marT="66675" marB="66675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25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comment tag is used to insert comments in the source code. Comments are not displayed in the browsers.</a:t>
            </a:r>
          </a:p>
          <a:p>
            <a:r>
              <a:rPr lang="en-US" dirty="0"/>
              <a:t>You can use comments to explain your code, which can help you when you edit the source code at a later date. This is especially useful if you have a lot of code.</a:t>
            </a:r>
          </a:p>
          <a:p>
            <a:r>
              <a:rPr lang="en-US" dirty="0"/>
              <a:t> &lt;!-- Comments here </a:t>
            </a:r>
            <a:r>
              <a:rPr lang="en-US" dirty="0">
                <a:sym typeface="Wingdings" panose="05000000000000000000" pitchFamily="2" charset="2"/>
              </a:rPr>
              <a:t>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72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908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/>
              <a:t>In HTML, images are defined with the &lt;</a:t>
            </a:r>
            <a:r>
              <a:rPr lang="en-US" dirty="0" err="1"/>
              <a:t>img</a:t>
            </a:r>
            <a:r>
              <a:rPr lang="en-US" dirty="0"/>
              <a:t>&gt; tag.</a:t>
            </a:r>
          </a:p>
          <a:p>
            <a:r>
              <a:rPr lang="en-US" dirty="0"/>
              <a:t>The &lt;</a:t>
            </a:r>
            <a:r>
              <a:rPr lang="en-US" dirty="0" err="1"/>
              <a:t>img</a:t>
            </a:r>
            <a:r>
              <a:rPr lang="en-US" dirty="0"/>
              <a:t>&gt; tag is empty, which means that it contains attributes only , </a:t>
            </a:r>
          </a:p>
          <a:p>
            <a:pPr marL="0" indent="0">
              <a:buNone/>
            </a:pPr>
            <a:r>
              <a:rPr lang="en-US" dirty="0"/>
              <a:t>      and has no closing tag.</a:t>
            </a:r>
          </a:p>
          <a:p>
            <a:r>
              <a:rPr lang="en-US" dirty="0"/>
              <a:t>To display an image on a page, you need to use the </a:t>
            </a:r>
            <a:r>
              <a:rPr lang="en-US" dirty="0" err="1"/>
              <a:t>src</a:t>
            </a:r>
            <a:r>
              <a:rPr lang="en-US" dirty="0"/>
              <a:t> attribute. </a:t>
            </a:r>
            <a:r>
              <a:rPr lang="en-US" dirty="0" err="1"/>
              <a:t>Src</a:t>
            </a:r>
            <a:r>
              <a:rPr lang="en-US" dirty="0"/>
              <a:t> stands for "source". The value of the </a:t>
            </a:r>
            <a:r>
              <a:rPr lang="en-US" dirty="0" err="1"/>
              <a:t>src</a:t>
            </a:r>
            <a:r>
              <a:rPr lang="en-US" dirty="0"/>
              <a:t> attribute is the URL of the image you want to display.</a:t>
            </a:r>
          </a:p>
          <a:p>
            <a:r>
              <a:rPr lang="en-US" b="1" dirty="0"/>
              <a:t>Syntax for defining an image: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i="1" dirty="0" err="1"/>
              <a:t>url</a:t>
            </a:r>
            <a:r>
              <a:rPr lang="en-US" dirty="0"/>
              <a:t>" alt="</a:t>
            </a:r>
            <a:r>
              <a:rPr lang="en-US" i="1" dirty="0" err="1"/>
              <a:t>some_text</a:t>
            </a:r>
            <a:r>
              <a:rPr lang="en-US" dirty="0"/>
              <a:t>"&gt;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Images Cont.…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534400" cy="43735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border="2" </a:t>
            </a:r>
            <a:r>
              <a:rPr lang="en-US" dirty="0" err="1"/>
              <a:t>src</a:t>
            </a:r>
            <a:r>
              <a:rPr lang="en-US" dirty="0"/>
              <a:t>="WTH.jpg" alt=" Road map " width="304" height="228" title="Hello"&gt;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595898"/>
              </p:ext>
            </p:extLst>
          </p:nvPr>
        </p:nvGraphicFramePr>
        <p:xfrm>
          <a:off x="838200" y="2860038"/>
          <a:ext cx="8153399" cy="3220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298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5319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539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390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the border around</a:t>
                      </a:r>
                      <a:r>
                        <a:rPr lang="en-US" baseline="0" dirty="0"/>
                        <a:t> the image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390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</a:t>
                      </a:r>
                      <a:r>
                        <a:rPr lang="en-US" baseline="0" dirty="0"/>
                        <a:t> the path of image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390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</a:t>
                      </a:r>
                      <a:r>
                        <a:rPr lang="en-US" baseline="0" dirty="0"/>
                        <a:t> the width of image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390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 the height of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390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 the tool tip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3907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Specifies extra information about an element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3907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hspace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Specifies the whitespace on left and right side of an image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3907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Vspace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specifies the whitespace on top and bottom of an image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205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Font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&lt;font&gt; tag specifies the font face, font size, and font color of text.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022643"/>
              </p:ext>
            </p:extLst>
          </p:nvPr>
        </p:nvGraphicFramePr>
        <p:xfrm>
          <a:off x="1066800" y="3048000"/>
          <a:ext cx="7162800" cy="198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5511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 the color of text. Values can be defined in the form of </a:t>
                      </a:r>
                      <a:r>
                        <a:rPr lang="en-US" baseline="0" dirty="0"/>
                        <a:t> RGB code, name of color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  <a:r>
                        <a:rPr lang="en-US" baseline="0" dirty="0"/>
                        <a:t> of the font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Family</a:t>
                      </a:r>
                      <a:r>
                        <a:rPr lang="en-US" baseline="0" dirty="0"/>
                        <a:t> of the font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6800" y="548640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&lt;p&gt; &lt;font size="3" color="red" face="Times New Roman" &gt;</a:t>
            </a:r>
          </a:p>
          <a:p>
            <a:r>
              <a:rPr lang="en-US" dirty="0"/>
              <a:t>        This is some text!&lt;/font&gt;&lt;/p&gt;</a:t>
            </a:r>
          </a:p>
        </p:txBody>
      </p:sp>
    </p:spTree>
    <p:extLst>
      <p:ext uri="{BB962C8B-B14F-4D97-AF65-F5344CB8AC3E}">
        <p14:creationId xmlns:p14="http://schemas.microsoft.com/office/powerpoint/2010/main" val="310366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 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Tables are defined with the &lt;table&gt; tag.</a:t>
            </a:r>
          </a:p>
          <a:p>
            <a:r>
              <a:rPr lang="en-US" dirty="0"/>
              <a:t>A table is divided into rows (with the &lt;</a:t>
            </a:r>
            <a:r>
              <a:rPr lang="en-US" dirty="0" err="1"/>
              <a:t>tr</a:t>
            </a:r>
            <a:r>
              <a:rPr lang="en-US" dirty="0"/>
              <a:t>&gt; tag), and each row is divided into data cells (with the &lt;td&gt; tag). td stands for "table data," and holds the content of a data cell. A &lt;td&gt; tag can contain text, links, images, lists, forms, other tables,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63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Tables </a:t>
            </a:r>
            <a:r>
              <a:rPr lang="en-US" dirty="0" smtClean="0"/>
              <a:t>Elements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Table Elements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485966"/>
              </p:ext>
            </p:extLst>
          </p:nvPr>
        </p:nvGraphicFramePr>
        <p:xfrm>
          <a:off x="1143000" y="2743200"/>
          <a:ext cx="5943600" cy="2522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6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319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r>
                        <a:rPr lang="en-US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&lt;table&gt;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</a:t>
                      </a:r>
                      <a:r>
                        <a:rPr lang="en-US" baseline="0" dirty="0"/>
                        <a:t> a Table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th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Table Heading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tr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</a:t>
                      </a:r>
                      <a:r>
                        <a:rPr lang="en-US" baseline="0" dirty="0"/>
                        <a:t> table Row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 Table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&lt;caption&gt;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</a:t>
                      </a:r>
                      <a:r>
                        <a:rPr lang="en-US" baseline="0" dirty="0"/>
                        <a:t> Caption of the Table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686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Tables </a:t>
            </a:r>
            <a:r>
              <a:rPr lang="en-US" dirty="0" smtClean="0"/>
              <a:t>Elements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708449"/>
              </p:ext>
            </p:extLst>
          </p:nvPr>
        </p:nvGraphicFramePr>
        <p:xfrm>
          <a:off x="863600" y="2489200"/>
          <a:ext cx="72898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81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059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 </a:t>
                      </a: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Align</a:t>
                      </a: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align</a:t>
                      </a:r>
                      <a:r>
                        <a:rPr lang="en-US" baseline="0" dirty="0"/>
                        <a:t> the contents ( left, center, right) </a:t>
                      </a:r>
                      <a:endParaRPr lang="en-US" dirty="0"/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Border</a:t>
                      </a:r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</a:t>
                      </a:r>
                      <a:r>
                        <a:rPr lang="en-US" baseline="0" dirty="0"/>
                        <a:t> border</a:t>
                      </a:r>
                      <a:endParaRPr lang="en-US" dirty="0"/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Cellpadding</a:t>
                      </a:r>
                      <a:endParaRPr lang="en-US" dirty="0"/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more white space between the cell content and its borders.</a:t>
                      </a:r>
                      <a:endParaRPr lang="en-US" dirty="0"/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Cellspacing</a:t>
                      </a:r>
                      <a:endParaRPr lang="en-US" dirty="0"/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the distance between the cells.</a:t>
                      </a:r>
                      <a:endParaRPr lang="en-US" dirty="0"/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0520" marR="705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0520" marR="7052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85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22418" cy="3530600"/>
          </a:xfrm>
        </p:spPr>
        <p:txBody>
          <a:bodyPr>
            <a:normAutofit/>
          </a:bodyPr>
          <a:lstStyle/>
          <a:p>
            <a:r>
              <a:rPr lang="en-US" dirty="0"/>
              <a:t>Type of Lists are </a:t>
            </a:r>
          </a:p>
          <a:p>
            <a:pPr lvl="1"/>
            <a:r>
              <a:rPr lang="en-US" dirty="0"/>
              <a:t>Ordered List  ( &lt;</a:t>
            </a:r>
            <a:r>
              <a:rPr lang="en-US" dirty="0" err="1"/>
              <a:t>ol</a:t>
            </a:r>
            <a:r>
              <a:rPr lang="en-US" dirty="0"/>
              <a:t>&gt; )</a:t>
            </a:r>
          </a:p>
          <a:p>
            <a:pPr lvl="1"/>
            <a:r>
              <a:rPr lang="en-US" dirty="0"/>
              <a:t>Un- Ordered List ( &lt;</a:t>
            </a:r>
            <a:r>
              <a:rPr lang="en-US" dirty="0" err="1"/>
              <a:t>ul</a:t>
            </a:r>
            <a:r>
              <a:rPr lang="en-US" dirty="0"/>
              <a:t>&gt; )</a:t>
            </a:r>
          </a:p>
          <a:p>
            <a:pPr lvl="1"/>
            <a:r>
              <a:rPr lang="en-US" dirty="0"/>
              <a:t>Description  List ( &lt;dl&gt; )</a:t>
            </a:r>
          </a:p>
          <a:p>
            <a:pPr marL="402336" lvl="1" indent="0">
              <a:buNone/>
            </a:pPr>
            <a:endParaRPr lang="en-US" dirty="0"/>
          </a:p>
          <a:p>
            <a:pPr marL="402336" lvl="1" indent="0">
              <a:buNone/>
            </a:pPr>
            <a:r>
              <a:rPr lang="en-US" dirty="0"/>
              <a:t>Ordered list uses the numbers </a:t>
            </a:r>
          </a:p>
          <a:p>
            <a:pPr marL="402336" lvl="1" indent="0">
              <a:buNone/>
            </a:pPr>
            <a:r>
              <a:rPr lang="en-US" dirty="0"/>
              <a:t>Unordered list uses the Built</a:t>
            </a:r>
          </a:p>
          <a:p>
            <a:pPr marL="402336" lvl="1" indent="0">
              <a:buNone/>
            </a:pPr>
            <a:r>
              <a:rPr lang="en-US" dirty="0"/>
              <a:t>A description list is a list of terms/names, with a description of each term/name.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0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Ordered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ordered list starts with the &lt;</a:t>
            </a:r>
            <a:r>
              <a:rPr lang="en-US" dirty="0" err="1"/>
              <a:t>ol</a:t>
            </a:r>
            <a:r>
              <a:rPr lang="en-US" dirty="0"/>
              <a:t>&gt; tag. Each list item starts with the &lt;li&gt; tag.</a:t>
            </a:r>
          </a:p>
          <a:p>
            <a:r>
              <a:rPr lang="en-US" dirty="0"/>
              <a:t>The list items are marked with numbers.</a:t>
            </a:r>
          </a:p>
          <a:p>
            <a:pPr marL="0" indent="0">
              <a:buNone/>
            </a:pPr>
            <a:r>
              <a:rPr lang="it-IT" dirty="0"/>
              <a:t>&lt;ol&gt;</a:t>
            </a:r>
          </a:p>
          <a:p>
            <a:pPr marL="400050" lvl="1" indent="0">
              <a:buNone/>
            </a:pPr>
            <a:r>
              <a:rPr lang="it-IT" dirty="0"/>
              <a:t>&lt;li&gt; </a:t>
            </a:r>
            <a:r>
              <a:rPr lang="it-IT" dirty="0" smtClean="0"/>
              <a:t>Html&lt;/</a:t>
            </a:r>
            <a:r>
              <a:rPr lang="it-IT" dirty="0"/>
              <a:t>li&gt;</a:t>
            </a:r>
          </a:p>
          <a:p>
            <a:pPr marL="400050" lvl="1" indent="0">
              <a:buNone/>
            </a:pPr>
            <a:r>
              <a:rPr lang="it-IT" dirty="0"/>
              <a:t>&lt;li&gt; </a:t>
            </a:r>
            <a:r>
              <a:rPr lang="it-IT" dirty="0" smtClean="0"/>
              <a:t>Css&lt;/</a:t>
            </a:r>
            <a:r>
              <a:rPr lang="it-IT" dirty="0"/>
              <a:t>li&gt;</a:t>
            </a:r>
          </a:p>
          <a:p>
            <a:pPr marL="400050" lvl="1" indent="0">
              <a:buNone/>
            </a:pPr>
            <a:r>
              <a:rPr lang="it-IT" dirty="0"/>
              <a:t>&lt;li&gt; </a:t>
            </a:r>
            <a:r>
              <a:rPr lang="it-IT" dirty="0" smtClean="0"/>
              <a:t>Typescript&lt;/</a:t>
            </a:r>
            <a:r>
              <a:rPr lang="it-IT" dirty="0"/>
              <a:t>li&gt;</a:t>
            </a:r>
          </a:p>
          <a:p>
            <a:pPr marL="400050" lvl="1" indent="0">
              <a:buNone/>
            </a:pPr>
            <a:r>
              <a:rPr lang="it-IT" dirty="0"/>
              <a:t>&lt;li&gt; </a:t>
            </a:r>
            <a:r>
              <a:rPr lang="it-IT" dirty="0" smtClean="0"/>
              <a:t>Bootstrap&lt;/</a:t>
            </a:r>
            <a:r>
              <a:rPr lang="it-IT" dirty="0"/>
              <a:t>li&gt;</a:t>
            </a:r>
          </a:p>
          <a:p>
            <a:pPr marL="0" indent="0">
              <a:buNone/>
            </a:pPr>
            <a:r>
              <a:rPr lang="it-IT" dirty="0"/>
              <a:t>&lt;/ol&gt;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55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Ordered List Cont.…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Default its numbered list. If we want to changes its default type of list we can do it via </a:t>
            </a:r>
            <a:r>
              <a:rPr lang="en-US" b="1" u="sng" dirty="0"/>
              <a:t>Type</a:t>
            </a:r>
            <a:r>
              <a:rPr lang="en-US" dirty="0"/>
              <a:t> attribute: </a:t>
            </a:r>
          </a:p>
          <a:p>
            <a:pPr marL="0" indent="0">
              <a:buNone/>
            </a:pPr>
            <a:r>
              <a:rPr lang="it-IT" dirty="0"/>
              <a:t>&lt;ol type= "A"&gt;</a:t>
            </a:r>
          </a:p>
          <a:p>
            <a:pPr marL="400050" lvl="1" indent="0">
              <a:buNone/>
            </a:pPr>
            <a:r>
              <a:rPr lang="it-IT" dirty="0"/>
              <a:t>&lt;li&gt; </a:t>
            </a:r>
            <a:r>
              <a:rPr lang="it-IT" dirty="0" smtClean="0"/>
              <a:t>Html&lt;/</a:t>
            </a:r>
            <a:r>
              <a:rPr lang="it-IT" dirty="0"/>
              <a:t>li&gt;</a:t>
            </a:r>
          </a:p>
          <a:p>
            <a:pPr marL="400050" lvl="1" indent="0">
              <a:buNone/>
            </a:pPr>
            <a:r>
              <a:rPr lang="it-IT" dirty="0"/>
              <a:t>&lt;li&gt; </a:t>
            </a:r>
            <a:r>
              <a:rPr lang="it-IT" dirty="0" smtClean="0"/>
              <a:t>Css&lt;/</a:t>
            </a:r>
            <a:r>
              <a:rPr lang="it-IT" dirty="0"/>
              <a:t>li&gt;</a:t>
            </a:r>
          </a:p>
          <a:p>
            <a:pPr marL="400050" lvl="1" indent="0">
              <a:buNone/>
            </a:pPr>
            <a:r>
              <a:rPr lang="it-IT" dirty="0"/>
              <a:t>&lt;li&gt; </a:t>
            </a:r>
            <a:r>
              <a:rPr lang="it-IT" dirty="0" smtClean="0"/>
              <a:t>Typescript&lt;/</a:t>
            </a:r>
            <a:r>
              <a:rPr lang="it-IT" dirty="0"/>
              <a:t>li&gt;</a:t>
            </a:r>
          </a:p>
          <a:p>
            <a:pPr marL="400050" lvl="1" indent="0">
              <a:buNone/>
            </a:pPr>
            <a:r>
              <a:rPr lang="it-IT" dirty="0"/>
              <a:t>&lt;li&gt; </a:t>
            </a:r>
            <a:r>
              <a:rPr lang="it-IT" dirty="0" smtClean="0"/>
              <a:t>Bootstrap&lt;/</a:t>
            </a:r>
            <a:r>
              <a:rPr lang="it-IT" dirty="0"/>
              <a:t>li&gt;</a:t>
            </a:r>
          </a:p>
          <a:p>
            <a:pPr marL="0" indent="0">
              <a:buNone/>
            </a:pPr>
            <a:r>
              <a:rPr lang="it-IT" dirty="0"/>
              <a:t>&lt;/ol&gt;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83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Un Ordered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unordered list starts with the &lt;</a:t>
            </a:r>
            <a:r>
              <a:rPr lang="en-US" dirty="0" err="1"/>
              <a:t>ul</a:t>
            </a:r>
            <a:r>
              <a:rPr lang="en-US" dirty="0"/>
              <a:t>&gt; tag. Each list item starts with the &lt;li&gt; tag.</a:t>
            </a:r>
          </a:p>
          <a:p>
            <a:r>
              <a:rPr lang="en-US" dirty="0"/>
              <a:t>It have three types </a:t>
            </a:r>
          </a:p>
          <a:p>
            <a:pPr lvl="1"/>
            <a:r>
              <a:rPr lang="en-US" dirty="0"/>
              <a:t>Disc</a:t>
            </a:r>
          </a:p>
          <a:p>
            <a:pPr lvl="1"/>
            <a:r>
              <a:rPr lang="en-US" dirty="0"/>
              <a:t>Circle </a:t>
            </a:r>
          </a:p>
          <a:p>
            <a:pPr lvl="1"/>
            <a:r>
              <a:rPr lang="en-US" dirty="0"/>
              <a:t>Square</a:t>
            </a:r>
          </a:p>
          <a:p>
            <a:pPr marL="457200" lvl="1" indent="0">
              <a:buNone/>
            </a:pPr>
            <a:r>
              <a:rPr lang="en-US" dirty="0"/>
              <a:t>By default un-ordered list is Disc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98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Description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description list is a list of terms/names, with a description of each term/name.</a:t>
            </a:r>
          </a:p>
          <a:p>
            <a:r>
              <a:rPr lang="en-US" dirty="0"/>
              <a:t>The &lt;dl&gt; tag defines a description list.</a:t>
            </a:r>
          </a:p>
          <a:p>
            <a:r>
              <a:rPr lang="en-US" dirty="0"/>
              <a:t>The &lt;dl&gt; tag is used in conjunction with 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dt</a:t>
            </a:r>
            <a:r>
              <a:rPr lang="en-US" dirty="0"/>
              <a:t>&gt; (defines terms/names) 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dd</a:t>
            </a:r>
            <a:r>
              <a:rPr lang="en-US" dirty="0"/>
              <a:t>&gt; (describes each term/name):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98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Lists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&lt;dl&gt;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dt</a:t>
            </a:r>
            <a:r>
              <a:rPr lang="en-US" dirty="0"/>
              <a:t>&gt;Coffee&lt;/</a:t>
            </a:r>
            <a:r>
              <a:rPr lang="en-US" dirty="0" err="1"/>
              <a:t>dt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dd</a:t>
            </a:r>
            <a:r>
              <a:rPr lang="en-US" dirty="0"/>
              <a:t>&gt;- black hot drink&lt;/</a:t>
            </a:r>
            <a:r>
              <a:rPr lang="en-US" dirty="0" err="1"/>
              <a:t>dd</a:t>
            </a:r>
            <a:r>
              <a:rPr lang="en-US" dirty="0"/>
              <a:t>&gt;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   &lt;</a:t>
            </a:r>
            <a:r>
              <a:rPr lang="en-US" dirty="0" err="1"/>
              <a:t>dt</a:t>
            </a:r>
            <a:r>
              <a:rPr lang="en-US" dirty="0"/>
              <a:t>&gt;Milk&lt;/</a:t>
            </a:r>
            <a:r>
              <a:rPr lang="en-US" dirty="0" err="1"/>
              <a:t>dt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dd</a:t>
            </a:r>
            <a:r>
              <a:rPr lang="en-US" dirty="0"/>
              <a:t>&gt;- white cold drink&lt;/</a:t>
            </a:r>
            <a:r>
              <a:rPr lang="en-US" dirty="0" err="1"/>
              <a:t>dd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&lt;/dl&gt;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9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Hyperlinks (Links)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98618" cy="3530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HTML &lt;a&gt; tag defines a hyperlink.</a:t>
            </a:r>
          </a:p>
          <a:p>
            <a:r>
              <a:rPr lang="en-US" dirty="0"/>
              <a:t>A hyperlink (or link) is a word, group of words, or image that you can click on to jump to another document.</a:t>
            </a:r>
          </a:p>
          <a:p>
            <a:r>
              <a:rPr lang="en-US" dirty="0"/>
              <a:t>When you move the cursor over a link in a Web page, the arrow will turn into a little hand.</a:t>
            </a:r>
          </a:p>
          <a:p>
            <a:r>
              <a:rPr lang="en-US" dirty="0"/>
              <a:t>The most important attribute of the &lt;a&gt; element is the </a:t>
            </a:r>
            <a:r>
              <a:rPr lang="en-US" b="1" u="sng" dirty="0" err="1"/>
              <a:t>href</a:t>
            </a:r>
            <a:r>
              <a:rPr lang="en-US" dirty="0"/>
              <a:t> attribute, which indicates the </a:t>
            </a:r>
            <a:r>
              <a:rPr lang="en-US" b="1" u="sng" dirty="0"/>
              <a:t>link's destination</a:t>
            </a:r>
            <a:r>
              <a:rPr lang="en-US" dirty="0"/>
              <a:t>.</a:t>
            </a:r>
          </a:p>
          <a:p>
            <a:r>
              <a:rPr lang="en-US" dirty="0"/>
              <a:t>By default, links will appear as follows in all browsers:</a:t>
            </a:r>
          </a:p>
          <a:p>
            <a:pPr lvl="1"/>
            <a:r>
              <a:rPr lang="en-US" dirty="0"/>
              <a:t>An unvisited link is underlined and blue</a:t>
            </a:r>
          </a:p>
          <a:p>
            <a:pPr lvl="1"/>
            <a:r>
              <a:rPr lang="en-US" dirty="0"/>
              <a:t>A visited link is underlined and purple</a:t>
            </a:r>
          </a:p>
          <a:p>
            <a:pPr lvl="1"/>
            <a:r>
              <a:rPr lang="en-US" dirty="0"/>
              <a:t>An active link is underlined and red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10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Links - The id / name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id attribute can be used to create a bookmark inside an HTML document.</a:t>
            </a:r>
          </a:p>
          <a:p>
            <a:r>
              <a:rPr lang="en-US" b="1" dirty="0"/>
              <a:t>Tip:</a:t>
            </a:r>
            <a:r>
              <a:rPr lang="en-US" dirty="0"/>
              <a:t> Bookmarks are not displayed in any special way. They are invisible to the reader.</a:t>
            </a:r>
          </a:p>
          <a:p>
            <a:r>
              <a:rPr lang="en-US" dirty="0"/>
              <a:t>An anchor with an </a:t>
            </a:r>
            <a:r>
              <a:rPr lang="en-US" b="1" dirty="0"/>
              <a:t>id inside an HTML document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&lt;a id="tips"&gt;Useful Tips Section&lt;/a&gt;</a:t>
            </a:r>
          </a:p>
          <a:p>
            <a:r>
              <a:rPr lang="en-US" dirty="0"/>
              <a:t>Create a link to the "Useful Tips Section" </a:t>
            </a:r>
            <a:r>
              <a:rPr lang="en-US" b="1" u="sng" dirty="0"/>
              <a:t>inside the same document:</a:t>
            </a:r>
          </a:p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="#tips"&gt;Visit the Useful Tips Section&lt;/a&gt;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3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Links - The id / name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38400"/>
            <a:ext cx="87630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Or, create a link to the "Useful Tips Section" from another page:</a:t>
            </a:r>
          </a:p>
          <a:p>
            <a:r>
              <a:rPr lang="en-US" sz="2600" dirty="0"/>
              <a:t>&lt;a </a:t>
            </a:r>
            <a:r>
              <a:rPr lang="en-US" sz="2600" dirty="0" err="1"/>
              <a:t>href</a:t>
            </a:r>
            <a:r>
              <a:rPr lang="en-US" sz="2600" dirty="0"/>
              <a:t>="</a:t>
            </a:r>
            <a:r>
              <a:rPr lang="en-US" sz="2600" dirty="0" err="1"/>
              <a:t>html_links.htm#tips</a:t>
            </a:r>
            <a:r>
              <a:rPr lang="en-US" sz="2600" dirty="0"/>
              <a:t>"&gt;</a:t>
            </a:r>
            <a:br>
              <a:rPr lang="en-US" sz="2600" dirty="0"/>
            </a:br>
            <a:r>
              <a:rPr lang="en-US" sz="2600" dirty="0"/>
              <a:t>Visit the Useful Tips Section&lt;/a&gt;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7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605542" cy="3530600"/>
          </a:xfrm>
        </p:spPr>
        <p:txBody>
          <a:bodyPr>
            <a:normAutofit/>
          </a:bodyPr>
          <a:lstStyle/>
          <a:p>
            <a:r>
              <a:rPr lang="en-US" sz="2400" dirty="0"/>
              <a:t>Opens specified link on another window.</a:t>
            </a:r>
          </a:p>
          <a:p>
            <a:endParaRPr lang="en-US" sz="2400" dirty="0"/>
          </a:p>
          <a:p>
            <a:r>
              <a:rPr lang="en-US" sz="2400" dirty="0"/>
              <a:t>&lt;a </a:t>
            </a:r>
            <a:r>
              <a:rPr lang="en-US" sz="2400" dirty="0" err="1"/>
              <a:t>href</a:t>
            </a:r>
            <a:r>
              <a:rPr lang="en-US" sz="2400" dirty="0"/>
              <a:t>="http://www.w3schools.com" </a:t>
            </a:r>
            <a:r>
              <a:rPr lang="en-US" sz="2400" b="1" dirty="0"/>
              <a:t>target="_blank"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400" dirty="0"/>
              <a:t>       Visit W3Schools.com!   &lt;/a&gt;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1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as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22418" cy="35306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&lt;a </a:t>
            </a:r>
            <a:r>
              <a:rPr lang="en-US" sz="2400" dirty="0" err="1"/>
              <a:t>href</a:t>
            </a:r>
            <a:r>
              <a:rPr lang="en-US" sz="2400" dirty="0"/>
              <a:t>="default.asp"&gt;</a:t>
            </a:r>
          </a:p>
          <a:p>
            <a:pPr marL="0" indent="0">
              <a:buNone/>
            </a:pPr>
            <a:r>
              <a:rPr lang="en-US" sz="2400" dirty="0"/>
              <a:t>&lt;</a:t>
            </a:r>
            <a:r>
              <a:rPr lang="en-US" sz="2400" dirty="0" err="1"/>
              <a:t>img</a:t>
            </a:r>
            <a:r>
              <a:rPr lang="en-US" sz="2400" dirty="0"/>
              <a:t> </a:t>
            </a:r>
            <a:r>
              <a:rPr lang="en-US" sz="2400" dirty="0" err="1"/>
              <a:t>src</a:t>
            </a:r>
            <a:r>
              <a:rPr lang="en-US" sz="2400" dirty="0"/>
              <a:t>=“image.gif" alt="HTML tutorial" width="42" height="42"&gt;</a:t>
            </a:r>
          </a:p>
          <a:p>
            <a:pPr marL="0" indent="0">
              <a:buNone/>
            </a:pPr>
            <a:r>
              <a:rPr lang="en-US" sz="2400" dirty="0"/>
              <a:t>&lt;/a&gt;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46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 </a:t>
            </a:r>
            <a:r>
              <a:rPr lang="en-US" dirty="0" err="1"/>
              <a:t>Iframes</a:t>
            </a:r>
            <a:r>
              <a:rPr lang="en-US" dirty="0"/>
              <a:t> ( inline Frames)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46218" cy="3530600"/>
          </a:xfrm>
        </p:spPr>
        <p:txBody>
          <a:bodyPr>
            <a:normAutofit/>
          </a:bodyPr>
          <a:lstStyle/>
          <a:p>
            <a:r>
              <a:rPr lang="en-US" dirty="0"/>
              <a:t>An iframe is used to display a web page within a web page.</a:t>
            </a:r>
          </a:p>
          <a:p>
            <a:pPr marL="0" indent="0">
              <a:buNone/>
            </a:pPr>
            <a:r>
              <a:rPr lang="en-US" b="1" dirty="0"/>
              <a:t>Syntax for adding an iframe: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&lt;iframe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i="1" dirty="0"/>
              <a:t>URL</a:t>
            </a:r>
            <a:r>
              <a:rPr lang="en-US" dirty="0"/>
              <a:t>"&gt;&lt;/iframe&gt;</a:t>
            </a:r>
          </a:p>
          <a:p>
            <a:r>
              <a:rPr lang="en-US" dirty="0"/>
              <a:t>Iframe - Set </a:t>
            </a:r>
            <a:r>
              <a:rPr lang="en-US" b="1" dirty="0"/>
              <a:t>Height</a:t>
            </a:r>
            <a:r>
              <a:rPr lang="en-US" dirty="0"/>
              <a:t> and </a:t>
            </a:r>
            <a:r>
              <a:rPr lang="en-US" b="1" dirty="0"/>
              <a:t>Width</a:t>
            </a:r>
          </a:p>
          <a:p>
            <a:r>
              <a:rPr lang="en-US" dirty="0"/>
              <a:t>The height and width attributes are used to specify the height and width of the iframe.</a:t>
            </a:r>
          </a:p>
          <a:p>
            <a:r>
              <a:rPr lang="en-US" dirty="0"/>
              <a:t>The attribute values are specified in </a:t>
            </a:r>
            <a:r>
              <a:rPr lang="en-US" b="1" dirty="0"/>
              <a:t>pixels</a:t>
            </a:r>
            <a:r>
              <a:rPr lang="en-US" dirty="0"/>
              <a:t> by default, but they can also be in percent (like "</a:t>
            </a:r>
            <a:r>
              <a:rPr lang="en-US" b="1" dirty="0"/>
              <a:t>80%</a:t>
            </a:r>
            <a:r>
              <a:rPr lang="en-US" dirty="0"/>
              <a:t>").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50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 Iframes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38400"/>
            <a:ext cx="8077200" cy="3530600"/>
          </a:xfrm>
        </p:spPr>
        <p:txBody>
          <a:bodyPr>
            <a:normAutofit/>
          </a:bodyPr>
          <a:lstStyle/>
          <a:p>
            <a:r>
              <a:rPr lang="en-US" sz="2800" dirty="0"/>
              <a:t>&lt;iframe </a:t>
            </a:r>
            <a:r>
              <a:rPr lang="en-US" sz="2800" dirty="0" err="1"/>
              <a:t>src</a:t>
            </a:r>
            <a:r>
              <a:rPr lang="en-US" sz="2800" dirty="0"/>
              <a:t>="demo_iframe.htm" width="200" height="200“&gt;&lt;/iframe&gt;</a:t>
            </a:r>
          </a:p>
          <a:p>
            <a:endParaRPr lang="en-US" sz="2800" dirty="0"/>
          </a:p>
          <a:p>
            <a:r>
              <a:rPr lang="en-US" sz="2800" dirty="0"/>
              <a:t>Iframe - Remove the Border</a:t>
            </a:r>
          </a:p>
          <a:p>
            <a:pPr marL="0" indent="0">
              <a:buNone/>
            </a:pPr>
            <a:r>
              <a:rPr lang="en-US" sz="2800" dirty="0"/>
              <a:t>&lt;iframe </a:t>
            </a:r>
            <a:r>
              <a:rPr lang="en-US" sz="2800" dirty="0" err="1"/>
              <a:t>src</a:t>
            </a:r>
            <a:r>
              <a:rPr lang="en-US" sz="2800" dirty="0"/>
              <a:t>="demo_iframe.htm" </a:t>
            </a:r>
            <a:r>
              <a:rPr lang="en-US" sz="2800" dirty="0" err="1"/>
              <a:t>frameborder</a:t>
            </a:r>
            <a:r>
              <a:rPr lang="en-US" sz="2800" dirty="0"/>
              <a:t>="0"&gt;&lt;/iframe&gt;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5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iframe as a Target for a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81500"/>
            <a:ext cx="88392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&lt;iframe </a:t>
            </a:r>
            <a:r>
              <a:rPr lang="en-US" sz="2800" dirty="0" err="1"/>
              <a:t>src</a:t>
            </a:r>
            <a:r>
              <a:rPr lang="en-US" sz="2800" dirty="0"/>
              <a:t>="demo_iframe.htm“ name="</a:t>
            </a:r>
            <a:r>
              <a:rPr lang="en-US" sz="2800" dirty="0" err="1"/>
              <a:t>iframe_a</a:t>
            </a:r>
            <a:r>
              <a:rPr lang="en-US" sz="2800" dirty="0"/>
              <a:t>"&gt;</a:t>
            </a:r>
          </a:p>
          <a:p>
            <a:r>
              <a:rPr lang="en-US" sz="2800" dirty="0"/>
              <a:t>&lt;/iframe&gt;</a:t>
            </a:r>
            <a:br>
              <a:rPr lang="en-US" sz="2800" dirty="0"/>
            </a:br>
            <a:r>
              <a:rPr lang="en-US" sz="2800" dirty="0"/>
              <a:t>&lt;p&gt;</a:t>
            </a:r>
          </a:p>
          <a:p>
            <a:pPr marL="0" indent="0">
              <a:buNone/>
            </a:pPr>
            <a:r>
              <a:rPr lang="en-US" sz="2800" dirty="0"/>
              <a:t>           &lt;a </a:t>
            </a:r>
            <a:r>
              <a:rPr lang="en-US" sz="2800" dirty="0" err="1"/>
              <a:t>href</a:t>
            </a:r>
            <a:r>
              <a:rPr lang="en-US" sz="2800" dirty="0"/>
              <a:t>=</a:t>
            </a:r>
            <a:r>
              <a:rPr lang="en-US" sz="2800" dirty="0">
                <a:hlinkClick r:id="rId2"/>
              </a:rPr>
              <a:t>http://www.w3schools.com</a:t>
            </a:r>
            <a:r>
              <a:rPr lang="en-US" sz="2800" dirty="0"/>
              <a:t>                                                                                     	target="</a:t>
            </a:r>
            <a:r>
              <a:rPr lang="en-US" sz="2800" dirty="0" err="1"/>
              <a:t>iframe_a</a:t>
            </a:r>
            <a:r>
              <a:rPr lang="en-US" sz="2800" dirty="0"/>
              <a:t>"&gt;W3Schools.com&lt;/a&gt;</a:t>
            </a:r>
          </a:p>
          <a:p>
            <a:pPr marL="0" indent="0">
              <a:buNone/>
            </a:pPr>
            <a:r>
              <a:rPr lang="en-US" sz="2800" dirty="0"/>
              <a:t>    &lt;/p&gt;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2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 &lt;frameset&gt; 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46218" cy="35306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&lt;frameset&gt; </a:t>
            </a:r>
            <a:r>
              <a:rPr lang="en-US" dirty="0"/>
              <a:t>tag defines a frameset.</a:t>
            </a:r>
          </a:p>
          <a:p>
            <a:r>
              <a:rPr lang="en-US" dirty="0"/>
              <a:t>The </a:t>
            </a:r>
            <a:r>
              <a:rPr lang="en-US" b="1" dirty="0"/>
              <a:t>&lt;frameset&gt; </a:t>
            </a:r>
            <a:r>
              <a:rPr lang="en-US" dirty="0"/>
              <a:t>element holds one or more </a:t>
            </a:r>
            <a:r>
              <a:rPr lang="en-US" dirty="0">
                <a:hlinkClick r:id="rId2"/>
              </a:rPr>
              <a:t>&lt;frame&gt;</a:t>
            </a:r>
            <a:r>
              <a:rPr lang="en-US" dirty="0"/>
              <a:t> elements. Each </a:t>
            </a:r>
            <a:r>
              <a:rPr lang="en-US" b="1" dirty="0"/>
              <a:t>&lt;frame&gt; </a:t>
            </a:r>
            <a:r>
              <a:rPr lang="en-US" dirty="0"/>
              <a:t>element can hold a separate document.</a:t>
            </a:r>
          </a:p>
          <a:p>
            <a:r>
              <a:rPr lang="en-US" dirty="0"/>
              <a:t>The </a:t>
            </a:r>
            <a:r>
              <a:rPr lang="en-US" b="1" dirty="0"/>
              <a:t>&lt;frameset&gt; </a:t>
            </a:r>
            <a:r>
              <a:rPr lang="en-US" dirty="0"/>
              <a:t>element specifies HOW MANY columns or rows there will be in the frameset, and HOW MUCH </a:t>
            </a:r>
            <a:r>
              <a:rPr lang="en-US" b="1" dirty="0"/>
              <a:t>percentage/pixels</a:t>
            </a:r>
            <a:r>
              <a:rPr lang="en-US" dirty="0"/>
              <a:t> of space will occupy each of them.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8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 &lt;frameset&gt; 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46218" cy="35306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&lt;frameset&gt; </a:t>
            </a:r>
            <a:r>
              <a:rPr lang="en-US" dirty="0"/>
              <a:t>tag defines a frameset.</a:t>
            </a:r>
          </a:p>
          <a:p>
            <a:r>
              <a:rPr lang="en-US" dirty="0"/>
              <a:t>The </a:t>
            </a:r>
            <a:r>
              <a:rPr lang="en-US" b="1" dirty="0"/>
              <a:t>&lt;frameset&gt; </a:t>
            </a:r>
            <a:r>
              <a:rPr lang="en-US" dirty="0"/>
              <a:t>element holds one or more </a:t>
            </a:r>
            <a:r>
              <a:rPr lang="en-US" dirty="0">
                <a:hlinkClick r:id="rId2"/>
              </a:rPr>
              <a:t>&lt;frame&gt;</a:t>
            </a:r>
            <a:r>
              <a:rPr lang="en-US" dirty="0"/>
              <a:t> elements. Each </a:t>
            </a:r>
            <a:r>
              <a:rPr lang="en-US" b="1" dirty="0"/>
              <a:t>&lt;frame&gt; </a:t>
            </a:r>
            <a:r>
              <a:rPr lang="en-US" dirty="0"/>
              <a:t>element can hold a separate document.</a:t>
            </a:r>
          </a:p>
          <a:p>
            <a:r>
              <a:rPr lang="en-US" dirty="0"/>
              <a:t>The </a:t>
            </a:r>
            <a:r>
              <a:rPr lang="en-US" b="1" dirty="0"/>
              <a:t>&lt;frameset&gt; </a:t>
            </a:r>
            <a:r>
              <a:rPr lang="en-US" dirty="0"/>
              <a:t>element specifies HOW MANY columns or rows there will be in the frameset, and HOW MUCH </a:t>
            </a:r>
            <a:r>
              <a:rPr lang="en-US" b="1" dirty="0"/>
              <a:t>percentage/pixels</a:t>
            </a:r>
            <a:r>
              <a:rPr lang="en-US" dirty="0"/>
              <a:t> of space will occupy each of them.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383753"/>
              </p:ext>
            </p:extLst>
          </p:nvPr>
        </p:nvGraphicFramePr>
        <p:xfrm>
          <a:off x="864382" y="4724400"/>
          <a:ext cx="8051018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722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Specifies the number and size of columns in a frameset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(%, pixels, *)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Specifies the number and size of rows in a frameset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(%, pixels, *)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91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Frameset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934160" cy="3530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&lt;frameset rows="25%,*,25%"&gt;</a:t>
            </a:r>
          </a:p>
          <a:p>
            <a:pPr marL="0" indent="0">
              <a:buNone/>
            </a:pPr>
            <a:r>
              <a:rPr lang="en-US" dirty="0"/>
              <a:t>&lt;frame </a:t>
            </a:r>
            <a:r>
              <a:rPr lang="en-US" dirty="0" err="1"/>
              <a:t>src</a:t>
            </a:r>
            <a:r>
              <a:rPr lang="en-US" dirty="0"/>
              <a:t>="headings.html"&gt;</a:t>
            </a:r>
          </a:p>
          <a:p>
            <a:pPr marL="0" indent="0">
              <a:buNone/>
            </a:pPr>
            <a:r>
              <a:rPr lang="en-US" dirty="0"/>
              <a:t>&lt;frame </a:t>
            </a:r>
            <a:r>
              <a:rPr lang="en-US" dirty="0" err="1"/>
              <a:t>src</a:t>
            </a:r>
            <a:r>
              <a:rPr lang="en-US" dirty="0"/>
              <a:t>="Tables.html"&gt;</a:t>
            </a:r>
          </a:p>
          <a:p>
            <a:pPr marL="0" indent="0">
              <a:buNone/>
            </a:pPr>
            <a:r>
              <a:rPr lang="en-US" dirty="0"/>
              <a:t>&lt;frame </a:t>
            </a:r>
            <a:r>
              <a:rPr lang="en-US" dirty="0" err="1"/>
              <a:t>src</a:t>
            </a:r>
            <a:r>
              <a:rPr lang="en-US" dirty="0"/>
              <a:t>="textFormating.html"&gt;</a:t>
            </a:r>
          </a:p>
          <a:p>
            <a:pPr marL="0" indent="0">
              <a:buNone/>
            </a:pPr>
            <a:r>
              <a:rPr lang="en-US" dirty="0"/>
              <a:t>&lt;/frameset&gt;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640580" y="2489203"/>
            <a:ext cx="4046219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&lt;frameset cols="25%,*,25%"&gt;</a:t>
            </a:r>
          </a:p>
          <a:p>
            <a:pPr marL="0" indent="0">
              <a:buNone/>
            </a:pPr>
            <a:r>
              <a:rPr lang="en-US" dirty="0"/>
              <a:t>&lt;frame </a:t>
            </a:r>
            <a:r>
              <a:rPr lang="en-US" dirty="0" err="1"/>
              <a:t>src</a:t>
            </a:r>
            <a:r>
              <a:rPr lang="en-US" dirty="0"/>
              <a:t>="headings.html"&gt;</a:t>
            </a:r>
          </a:p>
          <a:p>
            <a:pPr marL="0" indent="0">
              <a:buNone/>
            </a:pPr>
            <a:r>
              <a:rPr lang="en-US" dirty="0"/>
              <a:t>&lt;frame </a:t>
            </a:r>
            <a:r>
              <a:rPr lang="en-US" dirty="0" err="1"/>
              <a:t>src</a:t>
            </a:r>
            <a:r>
              <a:rPr lang="en-US" dirty="0"/>
              <a:t>="Tables.html"&gt;</a:t>
            </a:r>
          </a:p>
          <a:p>
            <a:pPr marL="0" indent="0">
              <a:buNone/>
            </a:pPr>
            <a:r>
              <a:rPr lang="en-US" dirty="0"/>
              <a:t>&lt;frame </a:t>
            </a:r>
            <a:r>
              <a:rPr lang="en-US" dirty="0" err="1"/>
              <a:t>src</a:t>
            </a:r>
            <a:r>
              <a:rPr lang="en-US" dirty="0"/>
              <a:t>="textFormating.html"&gt;</a:t>
            </a:r>
          </a:p>
          <a:p>
            <a:pPr marL="0" indent="0">
              <a:buNone/>
            </a:pPr>
            <a:r>
              <a:rPr lang="en-US" dirty="0"/>
              <a:t>&lt;/frameset&gt;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6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Block and inline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22418" cy="3530600"/>
          </a:xfrm>
        </p:spPr>
        <p:txBody>
          <a:bodyPr>
            <a:normAutofit/>
          </a:bodyPr>
          <a:lstStyle/>
          <a:p>
            <a:r>
              <a:rPr lang="en-US" sz="2400" dirty="0"/>
              <a:t>Most HTML elements are defined as</a:t>
            </a:r>
          </a:p>
          <a:p>
            <a:pPr lvl="1"/>
            <a:r>
              <a:rPr lang="en-US" sz="2000" dirty="0"/>
              <a:t> </a:t>
            </a:r>
            <a:r>
              <a:rPr lang="en-US" sz="2000" b="1" dirty="0"/>
              <a:t>block level</a:t>
            </a:r>
            <a:r>
              <a:rPr lang="en-US" sz="2000" dirty="0"/>
              <a:t> elements </a:t>
            </a:r>
          </a:p>
          <a:p>
            <a:pPr lvl="1"/>
            <a:r>
              <a:rPr lang="en-US" sz="2000" dirty="0"/>
              <a:t> </a:t>
            </a:r>
            <a:r>
              <a:rPr lang="en-US" sz="2000" b="1" dirty="0"/>
              <a:t>inline</a:t>
            </a:r>
            <a:r>
              <a:rPr lang="en-US" sz="2000" dirty="0"/>
              <a:t> elements.</a:t>
            </a:r>
          </a:p>
          <a:p>
            <a:r>
              <a:rPr lang="en-US" sz="2400" b="1" dirty="0"/>
              <a:t>Block level elements normally start (and end) with a new line</a:t>
            </a:r>
            <a:r>
              <a:rPr lang="en-US" sz="2400" dirty="0"/>
              <a:t> when displayed in a browser.</a:t>
            </a:r>
          </a:p>
          <a:p>
            <a:r>
              <a:rPr lang="en-US" sz="2400" dirty="0"/>
              <a:t>Examples: &lt;h1&gt;, &lt;p&gt;, &lt;</a:t>
            </a:r>
            <a:r>
              <a:rPr lang="en-US" sz="2400" dirty="0" err="1"/>
              <a:t>ul</a:t>
            </a:r>
            <a:r>
              <a:rPr lang="en-US" sz="2400" dirty="0"/>
              <a:t>&gt;, &lt;table&gt;, &lt;div&gt;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Inline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46218" cy="3530600"/>
          </a:xfrm>
        </p:spPr>
        <p:txBody>
          <a:bodyPr>
            <a:normAutofit/>
          </a:bodyPr>
          <a:lstStyle/>
          <a:p>
            <a:r>
              <a:rPr lang="en-US" sz="2800" dirty="0"/>
              <a:t>Inline elements are normally displayed without starting a new line.</a:t>
            </a:r>
          </a:p>
          <a:p>
            <a:r>
              <a:rPr lang="en-US" sz="2800" dirty="0"/>
              <a:t>Examples: &lt;b&gt;, &lt;td&gt;, &lt;a&gt;, &lt;</a:t>
            </a:r>
            <a:r>
              <a:rPr lang="en-US" sz="2800" dirty="0" err="1"/>
              <a:t>img</a:t>
            </a:r>
            <a:r>
              <a:rPr lang="en-US" sz="2800" dirty="0"/>
              <a:t>&gt;, &lt;span&gt;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5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HTML &lt;div&gt;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667000"/>
            <a:ext cx="7746218" cy="353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HTML &lt;div&gt; element is a </a:t>
            </a:r>
            <a:r>
              <a:rPr lang="en-US" b="1" dirty="0"/>
              <a:t>block level </a:t>
            </a:r>
            <a:r>
              <a:rPr lang="en-US" dirty="0"/>
              <a:t>element that can be used as a </a:t>
            </a:r>
            <a:r>
              <a:rPr lang="en-US" b="1" u="sng" dirty="0"/>
              <a:t>container for grouping other HTML elements</a:t>
            </a:r>
            <a:r>
              <a:rPr lang="en-US" dirty="0"/>
              <a:t>.</a:t>
            </a:r>
          </a:p>
          <a:p>
            <a:r>
              <a:rPr lang="en-US" dirty="0"/>
              <a:t> The &lt;div&gt; element has no special meaning. Except that, because it is a block level element, </a:t>
            </a:r>
            <a:r>
              <a:rPr lang="en-US" b="1" dirty="0"/>
              <a:t>the browser will display a line break before and after it.</a:t>
            </a:r>
          </a:p>
          <a:p>
            <a:r>
              <a:rPr lang="en-US" dirty="0"/>
              <a:t>When used together with CSS, the </a:t>
            </a:r>
            <a:r>
              <a:rPr lang="en-US" b="1" dirty="0"/>
              <a:t>&lt;div&gt; element can be used to set style attributes to large blocks of content.</a:t>
            </a:r>
          </a:p>
          <a:p>
            <a:r>
              <a:rPr lang="en-US" dirty="0"/>
              <a:t>Another common use of the </a:t>
            </a:r>
            <a:r>
              <a:rPr lang="en-US" b="1" dirty="0"/>
              <a:t>&lt;div&gt; element, is for document layout. It replaces the "old way" of defining layout using tables. </a:t>
            </a:r>
            <a:r>
              <a:rPr lang="en-US" dirty="0"/>
              <a:t>Using &lt;table&gt; elements for layout is not the correct use of &lt;table&gt;. The purpose of the &lt;table&gt; element is to display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6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HTML &lt;div&gt; Element Cont.…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98618" cy="3530600"/>
          </a:xfrm>
        </p:spPr>
        <p:txBody>
          <a:bodyPr>
            <a:normAutofit/>
          </a:bodyPr>
          <a:lstStyle/>
          <a:p>
            <a:r>
              <a:rPr lang="en-US" dirty="0"/>
              <a:t>The &lt;div&gt; tag defines a division or a section in an HTML document.</a:t>
            </a:r>
          </a:p>
          <a:p>
            <a:r>
              <a:rPr lang="en-US" dirty="0"/>
              <a:t>The &lt;div&gt; tag is used to group block-elements to format them with CSS.</a:t>
            </a:r>
          </a:p>
          <a:p>
            <a:r>
              <a:rPr lang="en-US" b="1" dirty="0"/>
              <a:t>Tip:</a:t>
            </a:r>
            <a:r>
              <a:rPr lang="en-US" dirty="0"/>
              <a:t> The &lt;div&gt; element is very often used together with CSS, to layout a web page.</a:t>
            </a:r>
          </a:p>
          <a:p>
            <a:r>
              <a:rPr lang="en-US" b="1" dirty="0"/>
              <a:t>Note:</a:t>
            </a:r>
            <a:r>
              <a:rPr lang="en-US" dirty="0"/>
              <a:t> By default, browsers always place a line break before and after the &lt;div&gt; element. However, this can be changed with CSS.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5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HTML &lt;span&gt;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98618" cy="3530600"/>
          </a:xfrm>
        </p:spPr>
        <p:txBody>
          <a:bodyPr/>
          <a:lstStyle/>
          <a:p>
            <a:r>
              <a:rPr lang="en-US" dirty="0"/>
              <a:t>The HTML &lt;span&gt; element is an inline element that can be used as a </a:t>
            </a:r>
            <a:r>
              <a:rPr lang="en-US" b="1" u="sng" dirty="0"/>
              <a:t>container for text.</a:t>
            </a:r>
          </a:p>
          <a:p>
            <a:r>
              <a:rPr lang="en-US" dirty="0"/>
              <a:t>The &lt;span&gt; element has no special meaning.</a:t>
            </a:r>
          </a:p>
          <a:p>
            <a:r>
              <a:rPr lang="en-US" dirty="0"/>
              <a:t>When used together with CSS, the &lt;span&gt; element can be used to set style attributes to parts of the text.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 Layouts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605542" cy="3530600"/>
          </a:xfrm>
        </p:spPr>
        <p:txBody>
          <a:bodyPr>
            <a:normAutofit/>
          </a:bodyPr>
          <a:lstStyle/>
          <a:p>
            <a:r>
              <a:rPr lang="en-US" sz="2000" dirty="0"/>
              <a:t>Web page layout is very important to make your website look good.</a:t>
            </a:r>
          </a:p>
          <a:p>
            <a:r>
              <a:rPr lang="en-US" sz="2000" dirty="0"/>
              <a:t>Design your webpage layout very carefully.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5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Forms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HTML Forms are used to select different kinds of user input.</a:t>
            </a:r>
          </a:p>
          <a:p>
            <a:r>
              <a:rPr lang="en-US" dirty="0"/>
              <a:t>HTML forms are </a:t>
            </a:r>
            <a:r>
              <a:rPr lang="en-US" b="1" dirty="0"/>
              <a:t>used to pass data to a server</a:t>
            </a:r>
            <a:r>
              <a:rPr lang="en-US" dirty="0"/>
              <a:t>.</a:t>
            </a:r>
          </a:p>
          <a:p>
            <a:r>
              <a:rPr lang="en-US" dirty="0"/>
              <a:t>An HTML form can contain input elements like text fields, checkboxes, radio-buttons, submit buttons and more. A form can also contain select lists, textarea, </a:t>
            </a:r>
            <a:r>
              <a:rPr lang="en-US" dirty="0" err="1"/>
              <a:t>fieldset</a:t>
            </a:r>
            <a:r>
              <a:rPr lang="en-US" dirty="0"/>
              <a:t>, legend, and label elements.</a:t>
            </a:r>
          </a:p>
          <a:p>
            <a:r>
              <a:rPr lang="en-US" dirty="0"/>
              <a:t>The &lt;form&gt; tag is used to create an HTML form:</a:t>
            </a:r>
          </a:p>
          <a:p>
            <a:r>
              <a:rPr lang="en-US" dirty="0"/>
              <a:t>&lt;form&gt;</a:t>
            </a:r>
            <a:br>
              <a:rPr lang="en-US" dirty="0"/>
            </a:b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input elements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&lt;/form&gt;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3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Forms - The Input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&lt;input&gt; element is used to select user information.</a:t>
            </a:r>
          </a:p>
          <a:p>
            <a:r>
              <a:rPr lang="en-US" dirty="0"/>
              <a:t>An &lt;input&gt; element can vary in many ways, depending on the type attribute. An &lt;input&gt; element can be of type text field, checkbox, password, radio button, submit button, and more.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6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2406900"/>
            <a:ext cx="8610600" cy="4525963"/>
          </a:xfrm>
        </p:spPr>
        <p:txBody>
          <a:bodyPr>
            <a:normAutofit/>
          </a:bodyPr>
          <a:lstStyle/>
          <a:p>
            <a:r>
              <a:rPr lang="en-US" dirty="0"/>
              <a:t>&lt;input type="text"&gt; defines a one-line input field that a user can enter text into:</a:t>
            </a:r>
          </a:p>
          <a:p>
            <a:r>
              <a:rPr lang="en-US" sz="2800" dirty="0"/>
              <a:t>&lt;form&gt;</a:t>
            </a:r>
            <a:br>
              <a:rPr lang="en-US" sz="2800" dirty="0"/>
            </a:br>
            <a:r>
              <a:rPr lang="en-US" sz="2800" dirty="0"/>
              <a:t>First name: &lt;input type="text" name="</a:t>
            </a:r>
            <a:r>
              <a:rPr lang="en-US" sz="2800" dirty="0" err="1"/>
              <a:t>firstname</a:t>
            </a:r>
            <a:r>
              <a:rPr lang="en-US" sz="2800" dirty="0"/>
              <a:t>"&gt; &lt;</a:t>
            </a:r>
            <a:r>
              <a:rPr lang="en-US" sz="2800" dirty="0" err="1"/>
              <a:t>br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Last name: &lt;input type="text" name="</a:t>
            </a:r>
            <a:r>
              <a:rPr lang="en-US" sz="2800" dirty="0" err="1"/>
              <a:t>lastname</a:t>
            </a:r>
            <a:r>
              <a:rPr lang="en-US" sz="2800" dirty="0"/>
              <a:t>"&gt;</a:t>
            </a:r>
            <a:br>
              <a:rPr lang="en-US" sz="2800" dirty="0"/>
            </a:br>
            <a:r>
              <a:rPr lang="en-US" sz="2800" dirty="0"/>
              <a:t>&lt;/form&gt;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3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Password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&lt;input type="password"&gt; defines a password field:</a:t>
            </a:r>
          </a:p>
          <a:p>
            <a:r>
              <a:rPr lang="en-US" dirty="0"/>
              <a:t>&lt;form&gt;</a:t>
            </a:r>
            <a:br>
              <a:rPr lang="en-US" dirty="0"/>
            </a:br>
            <a:r>
              <a:rPr lang="en-US" sz="2800" dirty="0"/>
              <a:t>Password: &lt;input type="password" name="</a:t>
            </a:r>
            <a:r>
              <a:rPr lang="en-US" sz="2800" dirty="0" err="1"/>
              <a:t>pwd</a:t>
            </a:r>
            <a:r>
              <a:rPr lang="en-US" sz="2800" dirty="0"/>
              <a:t>"&gt;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&lt;/form&gt;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Note:</a:t>
            </a:r>
            <a:r>
              <a:rPr lang="en-US" dirty="0"/>
              <a:t> The characters in a password field are masked (shown as asterisks or circles).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6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Radio 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62200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/>
              <a:t>&lt;input type="radio"&gt; defines a radio button. Radio buttons let a user select ONLY ONE of a limited number of choices:</a:t>
            </a:r>
          </a:p>
          <a:p>
            <a:pPr marL="0" indent="0">
              <a:buNone/>
            </a:pPr>
            <a:r>
              <a:rPr lang="en-US" sz="2800" dirty="0"/>
              <a:t>&lt;form&gt;</a:t>
            </a:r>
            <a:br>
              <a:rPr lang="en-US" sz="2800" dirty="0"/>
            </a:br>
            <a:r>
              <a:rPr lang="en-US" sz="2800" dirty="0"/>
              <a:t>   &lt;input type="radio" name=“choice" value=“yes“ checked=“checked”&gt;Yes</a:t>
            </a:r>
          </a:p>
          <a:p>
            <a:pPr marL="0" indent="0">
              <a:buNone/>
            </a:pPr>
            <a:r>
              <a:rPr lang="en-US" sz="2800" dirty="0"/>
              <a:t>     &lt;</a:t>
            </a:r>
            <a:r>
              <a:rPr lang="en-US" sz="2800" dirty="0" err="1"/>
              <a:t>br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     &lt;input type="radio" name=“choice" value=“no"&gt;No</a:t>
            </a:r>
            <a:br>
              <a:rPr lang="en-US" sz="2800" dirty="0"/>
            </a:br>
            <a:r>
              <a:rPr lang="en-US" sz="2800" dirty="0"/>
              <a:t>  &lt;/form&gt;</a:t>
            </a:r>
          </a:p>
          <a:p>
            <a:r>
              <a:rPr lang="en-US" dirty="0"/>
              <a:t>Checked attributed defines that control is preselected when page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9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Checkboxes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&lt;input type="checkbox"&gt; defines a checkbox. Checkboxes let a user select ZERO or MORE options of a limited number of choices.</a:t>
            </a:r>
          </a:p>
          <a:p>
            <a:r>
              <a:rPr lang="en-US" dirty="0"/>
              <a:t>&lt;form&gt;</a:t>
            </a:r>
            <a:br>
              <a:rPr lang="en-US" dirty="0"/>
            </a:br>
            <a:r>
              <a:rPr lang="en-US" dirty="0"/>
              <a:t>&lt;input type="checkbox" name="vehicle" value="Bike"&gt;I have a bike&lt;</a:t>
            </a:r>
            <a:r>
              <a:rPr lang="en-US" dirty="0" err="1"/>
              <a:t>br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&lt;input type="checkbox" name="vehicle" value="Car"&gt;I have a car </a:t>
            </a:r>
            <a:br>
              <a:rPr lang="en-US" dirty="0"/>
            </a:br>
            <a:r>
              <a:rPr lang="en-US" dirty="0"/>
              <a:t>&lt;/form&gt;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9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Submit 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&lt;input type="submit"&gt; defines a submit button.</a:t>
            </a:r>
          </a:p>
          <a:p>
            <a:r>
              <a:rPr lang="en-US" dirty="0"/>
              <a:t>A submit button is used to send form data to a server. The data is sent to the page specified in the form's action attribute. The file defined in the action attribute usually does something with the received input:</a:t>
            </a:r>
          </a:p>
          <a:p>
            <a:r>
              <a:rPr lang="en-US" dirty="0"/>
              <a:t>&lt;form name="input" action="</a:t>
            </a:r>
            <a:r>
              <a:rPr lang="en-US" dirty="0" err="1"/>
              <a:t>html_form_action.php</a:t>
            </a:r>
            <a:r>
              <a:rPr lang="en-US" dirty="0"/>
              <a:t>" </a:t>
            </a:r>
          </a:p>
          <a:p>
            <a:pPr marL="0" indent="0">
              <a:buNone/>
            </a:pPr>
            <a:r>
              <a:rPr lang="en-US" dirty="0"/>
              <a:t>    method="get"&gt;</a:t>
            </a:r>
            <a:br>
              <a:rPr lang="en-US" dirty="0"/>
            </a:br>
            <a:r>
              <a:rPr lang="en-US" dirty="0"/>
              <a:t>   Username: &lt;input type="text" name="user"&gt;</a:t>
            </a:r>
            <a:br>
              <a:rPr lang="en-US" dirty="0"/>
            </a:br>
            <a:r>
              <a:rPr lang="en-US" dirty="0"/>
              <a:t>    &lt;input type="submit" value="Submit"&gt;</a:t>
            </a:r>
            <a:br>
              <a:rPr lang="en-US" dirty="0"/>
            </a:br>
            <a:r>
              <a:rPr lang="en-US" dirty="0"/>
              <a:t>      &lt;/form&gt;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9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Reset 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Button used to clear all the field of form in which reset button defined. </a:t>
            </a:r>
          </a:p>
          <a:p>
            <a:r>
              <a:rPr lang="en-US" dirty="0"/>
              <a:t>&lt;input type=“reset" value=“Clear"&gt;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 &lt;button&gt; 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&lt;button&gt; tag defines a clickable button.</a:t>
            </a:r>
          </a:p>
          <a:p>
            <a:r>
              <a:rPr lang="en-US" dirty="0"/>
              <a:t>Inside a &lt;button&gt; element you can put content, like text or images. This is the difference between this element and buttons created with the &lt;input&gt; element.</a:t>
            </a:r>
          </a:p>
          <a:p>
            <a:r>
              <a:rPr lang="en-US" b="1" dirty="0"/>
              <a:t>Tip:</a:t>
            </a:r>
            <a:r>
              <a:rPr lang="en-US" dirty="0"/>
              <a:t> Always specify the type attribute for a &lt;button&gt; element. Different browsers use different default types for the &lt;button&gt; element.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9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 &lt;textarea&gt; 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&lt;textarea&gt; tag defines a multi-line text input control.</a:t>
            </a:r>
          </a:p>
          <a:p>
            <a:r>
              <a:rPr lang="en-US" dirty="0"/>
              <a:t>A text area can hold an unlimited number of characters, and the text renders in a fixed-width font (usually Courier).</a:t>
            </a:r>
          </a:p>
          <a:p>
            <a:r>
              <a:rPr lang="en-US" dirty="0"/>
              <a:t>The size of a text area can be specified by the cols and rows attributes, or even better; through CSS' height and width properties.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6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 &lt;textarea&gt; Tag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9792391"/>
              </p:ext>
            </p:extLst>
          </p:nvPr>
        </p:nvGraphicFramePr>
        <p:xfrm>
          <a:off x="865970" y="2895600"/>
          <a:ext cx="7467600" cy="1891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j-lt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j-lt"/>
                        </a:rPr>
                        <a:t>Specifies a name for a text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j-lt"/>
                        </a:rPr>
                        <a:t>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Specifies the visible width of a text area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j-lt"/>
                        </a:rP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+mj-lt"/>
                        </a:rPr>
                        <a:t>Specifies the visible number of lines in a text area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j-lt"/>
                        </a:rPr>
                        <a:t>Disabled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Specifies that a text area should be disabled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2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 &lt;select&gt; 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&lt;select&gt; element is used to create a drop-down list.</a:t>
            </a:r>
          </a:p>
          <a:p>
            <a:r>
              <a:rPr lang="en-US" dirty="0"/>
              <a:t>The </a:t>
            </a:r>
            <a:r>
              <a:rPr lang="en-US" dirty="0">
                <a:hlinkClick r:id="rId2"/>
              </a:rPr>
              <a:t>&lt;option&gt;</a:t>
            </a:r>
            <a:r>
              <a:rPr lang="en-US" dirty="0"/>
              <a:t> tags inside the &lt;select&gt; element define the available options in the list.</a:t>
            </a:r>
          </a:p>
          <a:p>
            <a:r>
              <a:rPr lang="en-US" dirty="0"/>
              <a:t>Tips and Notes</a:t>
            </a:r>
          </a:p>
          <a:p>
            <a:r>
              <a:rPr lang="en-US" b="1" dirty="0"/>
              <a:t>Tip:</a:t>
            </a:r>
            <a:r>
              <a:rPr lang="en-US" dirty="0"/>
              <a:t> The &lt;select&gt; element is a form control and can be used in a form to collect user input.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5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&lt;select&gt;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2514600"/>
            <a:ext cx="8915400" cy="5105400"/>
          </a:xfrm>
        </p:spPr>
        <p:txBody>
          <a:bodyPr/>
          <a:lstStyle/>
          <a:p>
            <a:r>
              <a:rPr lang="en-US" dirty="0"/>
              <a:t>&lt;select multiple size=“2”&gt;</a:t>
            </a:r>
            <a:br>
              <a:rPr lang="en-US" dirty="0"/>
            </a:br>
            <a:r>
              <a:rPr lang="en-US" dirty="0"/>
              <a:t>  &lt;option value="</a:t>
            </a:r>
            <a:r>
              <a:rPr lang="en-US" dirty="0" err="1"/>
              <a:t>volvo</a:t>
            </a:r>
            <a:r>
              <a:rPr lang="en-US" dirty="0"/>
              <a:t>"&gt;Volvo&lt;/option&gt;</a:t>
            </a:r>
            <a:br>
              <a:rPr lang="en-US" dirty="0"/>
            </a:br>
            <a:r>
              <a:rPr lang="en-US" dirty="0"/>
              <a:t>  &lt;option value="</a:t>
            </a:r>
            <a:r>
              <a:rPr lang="en-US" dirty="0" err="1"/>
              <a:t>saab</a:t>
            </a:r>
            <a:r>
              <a:rPr lang="en-US" dirty="0"/>
              <a:t>"&gt;Saab&lt;/option&gt;</a:t>
            </a:r>
            <a:br>
              <a:rPr lang="en-US" dirty="0"/>
            </a:br>
            <a:r>
              <a:rPr lang="en-US" dirty="0"/>
              <a:t>  &lt;option value="</a:t>
            </a:r>
            <a:r>
              <a:rPr lang="en-US" dirty="0" err="1"/>
              <a:t>mercedes</a:t>
            </a:r>
            <a:r>
              <a:rPr lang="en-US" dirty="0"/>
              <a:t>"&gt;Mercedes&lt;/option&gt;</a:t>
            </a:r>
            <a:br>
              <a:rPr lang="en-US" dirty="0"/>
            </a:br>
            <a:r>
              <a:rPr lang="en-US" dirty="0"/>
              <a:t>  &lt;option value="</a:t>
            </a:r>
            <a:r>
              <a:rPr lang="en-US" dirty="0" err="1"/>
              <a:t>audi</a:t>
            </a:r>
            <a:r>
              <a:rPr lang="en-US" dirty="0"/>
              <a:t>"&gt;Audi&lt;/option&gt;</a:t>
            </a:r>
            <a:br>
              <a:rPr lang="en-US" dirty="0"/>
            </a:br>
            <a:r>
              <a:rPr lang="en-US" dirty="0"/>
              <a:t>&lt;/select&gt;</a:t>
            </a:r>
          </a:p>
          <a:p>
            <a:r>
              <a:rPr lang="en-US" dirty="0"/>
              <a:t>Note: </a:t>
            </a:r>
            <a:r>
              <a:rPr lang="en-US" b="1" dirty="0"/>
              <a:t>Multiple</a:t>
            </a:r>
            <a:r>
              <a:rPr lang="en-US" dirty="0"/>
              <a:t> shows that you can select more than one item from the drop down menu.</a:t>
            </a:r>
          </a:p>
          <a:p>
            <a:r>
              <a:rPr lang="en-US" b="1" dirty="0"/>
              <a:t>Size</a:t>
            </a:r>
            <a:r>
              <a:rPr lang="en-US" dirty="0"/>
              <a:t> shows number of visible items in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97D6-E611-4AFC-A176-9BAF8BE0A6B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9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{44E66311-B133-6446-B2AB-0091C60273D0}tf10001072</Template>
  <TotalTime>507</TotalTime>
  <Words>2181</Words>
  <Application>Microsoft Office PowerPoint</Application>
  <PresentationFormat>On-screen Show (4:3)</PresentationFormat>
  <Paragraphs>390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Calibri</vt:lpstr>
      <vt:lpstr>Franklin Gothic Book</vt:lpstr>
      <vt:lpstr>Wingdings</vt:lpstr>
      <vt:lpstr>Crop</vt:lpstr>
      <vt:lpstr>Frontend Development and user interface</vt:lpstr>
      <vt:lpstr>HTML</vt:lpstr>
      <vt:lpstr>HTML Tags</vt:lpstr>
      <vt:lpstr>HTML Headings</vt:lpstr>
      <vt:lpstr>HTML &lt;p&gt; and &lt;pre&gt; tag</vt:lpstr>
      <vt:lpstr>HTML Text Formatting</vt:lpstr>
      <vt:lpstr>HTML Comments</vt:lpstr>
      <vt:lpstr>HTML Images</vt:lpstr>
      <vt:lpstr>HTML Images Cont.… </vt:lpstr>
      <vt:lpstr>HTML Font </vt:lpstr>
      <vt:lpstr>HTML Tables</vt:lpstr>
      <vt:lpstr>HTML Tables Elements</vt:lpstr>
      <vt:lpstr>HTML Tables Elements</vt:lpstr>
      <vt:lpstr>HTML Lists</vt:lpstr>
      <vt:lpstr>HTML Ordered List</vt:lpstr>
      <vt:lpstr>HTML Ordered List Cont.…</vt:lpstr>
      <vt:lpstr>HTML Un Ordered List</vt:lpstr>
      <vt:lpstr>HTML Description Lists</vt:lpstr>
      <vt:lpstr>Description Lists Example</vt:lpstr>
      <vt:lpstr>HTML Hyperlinks (Links)</vt:lpstr>
      <vt:lpstr>HTML Links - The id / name Attribute</vt:lpstr>
      <vt:lpstr>HTML Links - The id / name Attribute</vt:lpstr>
      <vt:lpstr>HTML Link</vt:lpstr>
      <vt:lpstr>Image as Link</vt:lpstr>
      <vt:lpstr>HTML Iframes ( inline Frames)</vt:lpstr>
      <vt:lpstr>HTML Iframes</vt:lpstr>
      <vt:lpstr>Use iframe as a Target for a Link</vt:lpstr>
      <vt:lpstr>HTML &lt;frameset&gt; Tag</vt:lpstr>
      <vt:lpstr>HTML &lt;frameset&gt; Tag</vt:lpstr>
      <vt:lpstr>Example of Frameset</vt:lpstr>
      <vt:lpstr>Block and inline Elements</vt:lpstr>
      <vt:lpstr>HTML Inline Elements</vt:lpstr>
      <vt:lpstr>The HTML &lt;div&gt; Element</vt:lpstr>
      <vt:lpstr>The HTML &lt;div&gt; Element Cont.… </vt:lpstr>
      <vt:lpstr>The HTML &lt;span&gt; Element</vt:lpstr>
      <vt:lpstr>HTML Layouts</vt:lpstr>
      <vt:lpstr>HTML Forms </vt:lpstr>
      <vt:lpstr>HTML Forms - The Input Element</vt:lpstr>
      <vt:lpstr>Text Fields</vt:lpstr>
      <vt:lpstr>Password Field</vt:lpstr>
      <vt:lpstr>Radio Buttons</vt:lpstr>
      <vt:lpstr>Checkboxes</vt:lpstr>
      <vt:lpstr>Submit Button</vt:lpstr>
      <vt:lpstr>Reset Button</vt:lpstr>
      <vt:lpstr>HTML &lt;button&gt; Tag</vt:lpstr>
      <vt:lpstr>HTML &lt;textarea&gt; Tag</vt:lpstr>
      <vt:lpstr>HTML &lt;textarea&gt; Tag</vt:lpstr>
      <vt:lpstr>HTML &lt;select&gt; Tag</vt:lpstr>
      <vt:lpstr>HTML &lt;select&gt; Tag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</dc:title>
  <dc:creator>Abdul Latif Soomro</dc:creator>
  <cp:lastModifiedBy>Microsoft account</cp:lastModifiedBy>
  <cp:revision>69</cp:revision>
  <dcterms:created xsi:type="dcterms:W3CDTF">2014-01-07T15:56:44Z</dcterms:created>
  <dcterms:modified xsi:type="dcterms:W3CDTF">2025-09-16T20:05:19Z</dcterms:modified>
</cp:coreProperties>
</file>